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9" d="100"/>
          <a:sy n="69" d="100"/>
        </p:scale>
        <p:origin x="52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ru-RU"/>
              <a:t>Образец заголовка</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7/24/2021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7/24/2021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ru-RU"/>
              <a:t>Образец заголовка</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B61BEF0D-F0BB-DE4B-95CE-6DB70DBA9567}" type="datetimeFigureOut">
              <a:rPr lang="en-US" dirty="0"/>
              <a:pPr/>
              <a:t>7/24/2021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7/24/2021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a:t>Образец заголовка</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7/24/2021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7/24/2021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7/24/2021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ru-RU"/>
              <a:t>Образец заголовка</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42A54C80-263E-416B-A8E0-580EDEADCBDC}" type="datetimeFigureOut">
              <a:rPr lang="en-US" dirty="0"/>
              <a:t>7/24/2021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ru-RU"/>
              <a:t>Образец заголовка</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7/24/2021</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ru-RU"/>
              <a:t>Образец заголовка</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B61BEF0D-F0BB-DE4B-95CE-6DB70DBA9567}" type="datetimeFigureOut">
              <a:rPr lang="en-US" dirty="0"/>
              <a:pPr/>
              <a:t>7/24/2021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ru-RU"/>
              <a:t>Образец заголовка</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a:t>Образец текста</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B61BEF0D-F0BB-DE4B-95CE-6DB70DBA9567}" type="datetimeFigureOut">
              <a:rPr lang="en-US" dirty="0"/>
              <a:pPr/>
              <a:t>7/24/2021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ru-RU"/>
              <a:t>Образец заголовка</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B61BEF0D-F0BB-DE4B-95CE-6DB70DBA9567}" type="datetimeFigureOut">
              <a:rPr lang="en-US" dirty="0"/>
              <a:pPr/>
              <a:t>7/24/2021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Цитата карточки имени">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ru-RU"/>
              <a:t>Образец заголовка</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a:t>Образец текста</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B61BEF0D-F0BB-DE4B-95CE-6DB70DBA9567}" type="datetimeFigureOut">
              <a:rPr lang="en-US" dirty="0"/>
              <a:pPr/>
              <a:t>7/24/2021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Истина или ложь">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ru-RU"/>
              <a:t>Образец заголовка</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a:t>Образец текста</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B61BEF0D-F0BB-DE4B-95CE-6DB70DBA9567}" type="datetimeFigureOut">
              <a:rPr lang="en-US" dirty="0"/>
              <a:pPr/>
              <a:t>7/24/2021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7/24/2021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ru-RU"/>
              <a:t>Образец заголовка</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7/24/2021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ru-RU"/>
              <a:t>Образец заголовка</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7/24/2021</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3F9ADEF-B23B-420A-8BDE-A473B562DFC9}"/>
              </a:ext>
            </a:extLst>
          </p:cNvPr>
          <p:cNvSpPr>
            <a:spLocks noGrp="1"/>
          </p:cNvSpPr>
          <p:nvPr>
            <p:ph type="ctrTitle"/>
          </p:nvPr>
        </p:nvSpPr>
        <p:spPr/>
        <p:txBody>
          <a:bodyPr/>
          <a:lstStyle/>
          <a:p>
            <a:r>
              <a:rPr lang="en-US" sz="2800" dirty="0"/>
              <a:t>Capstone Project</a:t>
            </a:r>
            <a:br>
              <a:rPr lang="en-US" sz="3600" dirty="0"/>
            </a:br>
            <a:br>
              <a:rPr lang="en-US" sz="3600" dirty="0"/>
            </a:br>
            <a:r>
              <a:rPr lang="en-US" sz="3600" dirty="0"/>
              <a:t>The Battle of the Neighborhoods</a:t>
            </a:r>
            <a:endParaRPr lang="ru-RU" sz="3600" dirty="0"/>
          </a:p>
        </p:txBody>
      </p:sp>
      <p:sp>
        <p:nvSpPr>
          <p:cNvPr id="3" name="Подзаголовок 2">
            <a:extLst>
              <a:ext uri="{FF2B5EF4-FFF2-40B4-BE49-F238E27FC236}">
                <a16:creationId xmlns:a16="http://schemas.microsoft.com/office/drawing/2014/main" id="{FD997E3A-B9A0-46B2-9CEB-42176A32BA73}"/>
              </a:ext>
            </a:extLst>
          </p:cNvPr>
          <p:cNvSpPr>
            <a:spLocks noGrp="1"/>
          </p:cNvSpPr>
          <p:nvPr>
            <p:ph type="subTitle" idx="1"/>
          </p:nvPr>
        </p:nvSpPr>
        <p:spPr>
          <a:xfrm>
            <a:off x="1507067" y="4050833"/>
            <a:ext cx="7766936" cy="1703581"/>
          </a:xfrm>
        </p:spPr>
        <p:txBody>
          <a:bodyPr>
            <a:normAutofit/>
          </a:bodyPr>
          <a:lstStyle/>
          <a:p>
            <a:r>
              <a:rPr lang="en-US" dirty="0"/>
              <a:t>Applied Data Science Capstone by IBM / Coursera</a:t>
            </a:r>
          </a:p>
          <a:p>
            <a:endParaRPr lang="en-US" dirty="0"/>
          </a:p>
          <a:p>
            <a:r>
              <a:rPr lang="ru-RU" sz="1400" dirty="0"/>
              <a:t>24.07.2021</a:t>
            </a:r>
            <a:endParaRPr lang="en-US" sz="1400" dirty="0"/>
          </a:p>
          <a:p>
            <a:r>
              <a:rPr lang="en-US" sz="1400" dirty="0"/>
              <a:t>Alex AZ</a:t>
            </a:r>
          </a:p>
          <a:p>
            <a:endParaRPr lang="en-US" dirty="0"/>
          </a:p>
          <a:p>
            <a:endParaRPr lang="ru-RU" dirty="0"/>
          </a:p>
        </p:txBody>
      </p:sp>
    </p:spTree>
    <p:extLst>
      <p:ext uri="{BB962C8B-B14F-4D97-AF65-F5344CB8AC3E}">
        <p14:creationId xmlns:p14="http://schemas.microsoft.com/office/powerpoint/2010/main" val="34484681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6313FE-A46B-44D9-A958-11E7A05C9E84}"/>
              </a:ext>
            </a:extLst>
          </p:cNvPr>
          <p:cNvSpPr>
            <a:spLocks noGrp="1"/>
          </p:cNvSpPr>
          <p:nvPr>
            <p:ph type="title"/>
          </p:nvPr>
        </p:nvSpPr>
        <p:spPr/>
        <p:txBody>
          <a:bodyPr/>
          <a:lstStyle/>
          <a:p>
            <a:r>
              <a:rPr lang="en-US" dirty="0"/>
              <a:t>Introduction</a:t>
            </a:r>
            <a:endParaRPr lang="ru-RU" dirty="0"/>
          </a:p>
        </p:txBody>
      </p:sp>
      <p:sp>
        <p:nvSpPr>
          <p:cNvPr id="3" name="Объект 2">
            <a:extLst>
              <a:ext uri="{FF2B5EF4-FFF2-40B4-BE49-F238E27FC236}">
                <a16:creationId xmlns:a16="http://schemas.microsoft.com/office/drawing/2014/main" id="{F9253D57-8FD5-4B1E-A075-95E9A5146487}"/>
              </a:ext>
            </a:extLst>
          </p:cNvPr>
          <p:cNvSpPr>
            <a:spLocks noGrp="1"/>
          </p:cNvSpPr>
          <p:nvPr>
            <p:ph idx="1"/>
          </p:nvPr>
        </p:nvSpPr>
        <p:spPr>
          <a:xfrm>
            <a:off x="677334" y="1487055"/>
            <a:ext cx="8596668" cy="4554307"/>
          </a:xfrm>
        </p:spPr>
        <p:txBody>
          <a:bodyPr>
            <a:normAutofit fontScale="92500" lnSpcReduction="10000"/>
          </a:bodyPr>
          <a:lstStyle/>
          <a:p>
            <a:pPr>
              <a:lnSpc>
                <a:spcPct val="110000"/>
              </a:lnSpc>
              <a:spcBef>
                <a:spcPts val="600"/>
              </a:spcBef>
              <a:spcAft>
                <a:spcPts val="600"/>
              </a:spcAft>
            </a:pPr>
            <a:r>
              <a:rPr lang="en-US" dirty="0"/>
              <a:t>The restaurant chain of Eastern European cuisine "EEC", St. Petersburg, Russia plans to expand to foreign countries. It was decided to open the first foreign restaurant in Tallinn, Estonia - the nearest capital of a foreign state to St. Petersburg.</a:t>
            </a:r>
          </a:p>
          <a:p>
            <a:pPr>
              <a:lnSpc>
                <a:spcPct val="110000"/>
              </a:lnSpc>
              <a:spcBef>
                <a:spcPts val="600"/>
              </a:spcBef>
              <a:spcAft>
                <a:spcPts val="600"/>
              </a:spcAft>
            </a:pPr>
            <a:r>
              <a:rPr lang="en-US" dirty="0"/>
              <a:t>Preliminary analysis has shown that the most popular area of Tallinn                                  for both tourists and locals is Old Town or </a:t>
            </a:r>
            <a:r>
              <a:rPr lang="en-US" dirty="0" err="1"/>
              <a:t>Vanalinn</a:t>
            </a:r>
            <a:r>
              <a:rPr lang="en-US" dirty="0"/>
              <a:t> (https://www.visittallinn.ee/eng/visitor/ideas-tips/tips-and-guides/top-must-see-sights).</a:t>
            </a:r>
          </a:p>
          <a:p>
            <a:pPr>
              <a:lnSpc>
                <a:spcPct val="110000"/>
              </a:lnSpc>
              <a:spcBef>
                <a:spcPts val="600"/>
              </a:spcBef>
              <a:spcAft>
                <a:spcPts val="600"/>
              </a:spcAft>
            </a:pPr>
            <a:r>
              <a:rPr lang="en-US" dirty="0"/>
              <a:t>Thus, the location of the restaurant was determined by the old town and the adjacent territories within walking distance (up to 1.5 km) from Town Hall Square - the cultural and historical center of the old town.</a:t>
            </a:r>
          </a:p>
          <a:p>
            <a:pPr>
              <a:lnSpc>
                <a:spcPct val="110000"/>
              </a:lnSpc>
              <a:spcBef>
                <a:spcPts val="600"/>
              </a:spcBef>
              <a:spcAft>
                <a:spcPts val="600"/>
              </a:spcAft>
            </a:pPr>
            <a:r>
              <a:rPr lang="en-US" dirty="0"/>
              <a:t>The aim of the project is to determine the most promising locations for placing the restaurant, taking into account the presence of restaurants in general and with Eastern European cuisine in particular in the area under consideration.</a:t>
            </a:r>
          </a:p>
          <a:p>
            <a:endParaRPr lang="ru-RU" dirty="0"/>
          </a:p>
        </p:txBody>
      </p:sp>
    </p:spTree>
    <p:extLst>
      <p:ext uri="{BB962C8B-B14F-4D97-AF65-F5344CB8AC3E}">
        <p14:creationId xmlns:p14="http://schemas.microsoft.com/office/powerpoint/2010/main" val="25699529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E29019-3FC0-4051-9D6E-A9778704036F}"/>
              </a:ext>
            </a:extLst>
          </p:cNvPr>
          <p:cNvSpPr>
            <a:spLocks noGrp="1"/>
          </p:cNvSpPr>
          <p:nvPr>
            <p:ph type="title"/>
          </p:nvPr>
        </p:nvSpPr>
        <p:spPr>
          <a:xfrm>
            <a:off x="677334" y="609600"/>
            <a:ext cx="8596668" cy="1681018"/>
          </a:xfrm>
        </p:spPr>
        <p:txBody>
          <a:bodyPr>
            <a:normAutofit/>
          </a:bodyPr>
          <a:lstStyle/>
          <a:p>
            <a:r>
              <a:rPr lang="en-US" dirty="0"/>
              <a:t>Data</a:t>
            </a:r>
            <a:br>
              <a:rPr lang="en-US" dirty="0"/>
            </a:br>
            <a:r>
              <a:rPr lang="en-US" sz="2800" dirty="0"/>
              <a:t>Main factors</a:t>
            </a:r>
            <a:endParaRPr lang="ru-RU" sz="2800" dirty="0"/>
          </a:p>
        </p:txBody>
      </p:sp>
      <p:sp>
        <p:nvSpPr>
          <p:cNvPr id="3" name="Объект 2">
            <a:extLst>
              <a:ext uri="{FF2B5EF4-FFF2-40B4-BE49-F238E27FC236}">
                <a16:creationId xmlns:a16="http://schemas.microsoft.com/office/drawing/2014/main" id="{B280C48D-301D-4C54-81F2-253113181F2A}"/>
              </a:ext>
            </a:extLst>
          </p:cNvPr>
          <p:cNvSpPr>
            <a:spLocks noGrp="1"/>
          </p:cNvSpPr>
          <p:nvPr>
            <p:ph idx="1"/>
          </p:nvPr>
        </p:nvSpPr>
        <p:spPr>
          <a:xfrm>
            <a:off x="677334" y="1930400"/>
            <a:ext cx="8596668" cy="4498890"/>
          </a:xfrm>
        </p:spPr>
        <p:txBody>
          <a:bodyPr>
            <a:normAutofit/>
          </a:bodyPr>
          <a:lstStyle/>
          <a:p>
            <a:pPr marL="0" indent="0">
              <a:spcBef>
                <a:spcPts val="600"/>
              </a:spcBef>
              <a:spcAft>
                <a:spcPts val="600"/>
              </a:spcAft>
              <a:buNone/>
            </a:pPr>
            <a:r>
              <a:rPr lang="en-US" dirty="0"/>
              <a:t>Based on the formulation of a business problem, the main factors influencing its solution will be:</a:t>
            </a:r>
          </a:p>
          <a:p>
            <a:pPr>
              <a:spcBef>
                <a:spcPts val="600"/>
              </a:spcBef>
              <a:spcAft>
                <a:spcPts val="600"/>
              </a:spcAft>
            </a:pPr>
            <a:endParaRPr lang="en-US" sz="800" dirty="0"/>
          </a:p>
          <a:p>
            <a:pPr>
              <a:spcBef>
                <a:spcPts val="600"/>
              </a:spcBef>
              <a:spcAft>
                <a:spcPts val="600"/>
              </a:spcAft>
            </a:pPr>
            <a:r>
              <a:rPr lang="en-US" dirty="0"/>
              <a:t>coverage area for analysis (1.5 km from Town Hall Square);</a:t>
            </a:r>
          </a:p>
          <a:p>
            <a:pPr>
              <a:spcBef>
                <a:spcPts val="600"/>
              </a:spcBef>
              <a:spcAft>
                <a:spcPts val="600"/>
              </a:spcAft>
            </a:pPr>
            <a:r>
              <a:rPr lang="en-US" dirty="0"/>
              <a:t>total number of restaurants of all types in the area under consideration (density);</a:t>
            </a:r>
          </a:p>
          <a:p>
            <a:pPr>
              <a:spcBef>
                <a:spcPts val="600"/>
              </a:spcBef>
              <a:spcAft>
                <a:spcPts val="600"/>
              </a:spcAft>
            </a:pPr>
            <a:r>
              <a:rPr lang="en-US" dirty="0"/>
              <a:t>number of Eastern European restaurants in the area under consideration (density);</a:t>
            </a:r>
          </a:p>
          <a:p>
            <a:pPr>
              <a:spcBef>
                <a:spcPts val="600"/>
              </a:spcBef>
              <a:spcAft>
                <a:spcPts val="600"/>
              </a:spcAft>
            </a:pPr>
            <a:r>
              <a:rPr lang="en-US" dirty="0"/>
              <a:t>distance between neighboring restaurants of Eastern European cuisine;</a:t>
            </a:r>
          </a:p>
          <a:p>
            <a:pPr>
              <a:spcBef>
                <a:spcPts val="600"/>
              </a:spcBef>
              <a:spcAft>
                <a:spcPts val="600"/>
              </a:spcAft>
            </a:pPr>
            <a:r>
              <a:rPr lang="en-US" dirty="0"/>
              <a:t>distance from the center of the considered area (Town Hall Square) to each restaurant of Eastern European cuisine found in it.</a:t>
            </a:r>
          </a:p>
        </p:txBody>
      </p:sp>
    </p:spTree>
    <p:extLst>
      <p:ext uri="{BB962C8B-B14F-4D97-AF65-F5344CB8AC3E}">
        <p14:creationId xmlns:p14="http://schemas.microsoft.com/office/powerpoint/2010/main" val="2127377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50283D6-9707-4966-BAE9-84058B48E0B1}"/>
              </a:ext>
            </a:extLst>
          </p:cNvPr>
          <p:cNvSpPr>
            <a:spLocks noGrp="1"/>
          </p:cNvSpPr>
          <p:nvPr>
            <p:ph type="title"/>
          </p:nvPr>
        </p:nvSpPr>
        <p:spPr/>
        <p:txBody>
          <a:bodyPr/>
          <a:lstStyle/>
          <a:p>
            <a:r>
              <a:rPr lang="en-US" dirty="0"/>
              <a:t>Data </a:t>
            </a:r>
            <a:br>
              <a:rPr lang="en-US" dirty="0"/>
            </a:br>
            <a:r>
              <a:rPr lang="en-US" sz="2800" dirty="0"/>
              <a:t>Sources </a:t>
            </a:r>
            <a:endParaRPr lang="ru-RU" sz="2800" dirty="0"/>
          </a:p>
        </p:txBody>
      </p:sp>
      <p:sp>
        <p:nvSpPr>
          <p:cNvPr id="3" name="Объект 2">
            <a:extLst>
              <a:ext uri="{FF2B5EF4-FFF2-40B4-BE49-F238E27FC236}">
                <a16:creationId xmlns:a16="http://schemas.microsoft.com/office/drawing/2014/main" id="{4193B070-2BAC-4672-8D00-A33648B70B0A}"/>
              </a:ext>
            </a:extLst>
          </p:cNvPr>
          <p:cNvSpPr>
            <a:spLocks noGrp="1"/>
          </p:cNvSpPr>
          <p:nvPr>
            <p:ph idx="1"/>
          </p:nvPr>
        </p:nvSpPr>
        <p:spPr>
          <a:xfrm>
            <a:off x="677334" y="1855789"/>
            <a:ext cx="8596668" cy="3880773"/>
          </a:xfrm>
        </p:spPr>
        <p:txBody>
          <a:bodyPr>
            <a:normAutofit/>
          </a:bodyPr>
          <a:lstStyle/>
          <a:p>
            <a:pPr marL="0" indent="0">
              <a:spcBef>
                <a:spcPts val="600"/>
              </a:spcBef>
              <a:spcAft>
                <a:spcPts val="600"/>
              </a:spcAft>
              <a:buNone/>
            </a:pPr>
            <a:r>
              <a:rPr lang="en-US" sz="1900" dirty="0"/>
              <a:t>The sources of the necessary data will be:</a:t>
            </a:r>
          </a:p>
          <a:p>
            <a:pPr>
              <a:spcBef>
                <a:spcPts val="600"/>
              </a:spcBef>
              <a:spcAft>
                <a:spcPts val="600"/>
              </a:spcAft>
            </a:pPr>
            <a:endParaRPr lang="en-US" sz="800" dirty="0"/>
          </a:p>
          <a:p>
            <a:pPr>
              <a:spcBef>
                <a:spcPts val="600"/>
              </a:spcBef>
              <a:spcAft>
                <a:spcPts val="600"/>
              </a:spcAft>
            </a:pPr>
            <a:r>
              <a:rPr lang="en-US" sz="1900" dirty="0"/>
              <a:t>coordinates of the center of the considered area (Town Hall Square) will be obtained using the </a:t>
            </a:r>
            <a:r>
              <a:rPr lang="en-US" sz="1900" dirty="0" err="1"/>
              <a:t>Nominatim</a:t>
            </a:r>
            <a:r>
              <a:rPr lang="en-US" sz="1900" dirty="0"/>
              <a:t> geocoding API;</a:t>
            </a:r>
          </a:p>
          <a:p>
            <a:pPr>
              <a:spcBef>
                <a:spcPts val="600"/>
              </a:spcBef>
              <a:spcAft>
                <a:spcPts val="600"/>
              </a:spcAft>
            </a:pPr>
            <a:r>
              <a:rPr lang="en-US" sz="1900" dirty="0"/>
              <a:t>centers of individual locations of the considered area will be generated algorithmically, and their coordinates will be obtained using reverse geocoding;</a:t>
            </a:r>
          </a:p>
          <a:p>
            <a:pPr>
              <a:spcBef>
                <a:spcPts val="600"/>
              </a:spcBef>
              <a:spcAft>
                <a:spcPts val="600"/>
              </a:spcAft>
            </a:pPr>
            <a:r>
              <a:rPr lang="en-US" sz="1900" dirty="0"/>
              <a:t>number of restaurants, their type and location will be obtained using the Foursquare API.</a:t>
            </a:r>
          </a:p>
        </p:txBody>
      </p:sp>
    </p:spTree>
    <p:extLst>
      <p:ext uri="{BB962C8B-B14F-4D97-AF65-F5344CB8AC3E}">
        <p14:creationId xmlns:p14="http://schemas.microsoft.com/office/powerpoint/2010/main" val="31788815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E6A09B2-8634-46FB-879F-BB5568A1367B}"/>
              </a:ext>
            </a:extLst>
          </p:cNvPr>
          <p:cNvSpPr>
            <a:spLocks noGrp="1"/>
          </p:cNvSpPr>
          <p:nvPr>
            <p:ph type="title"/>
          </p:nvPr>
        </p:nvSpPr>
        <p:spPr/>
        <p:txBody>
          <a:bodyPr/>
          <a:lstStyle/>
          <a:p>
            <a:r>
              <a:rPr lang="en-US" dirty="0"/>
              <a:t>Data</a:t>
            </a:r>
            <a:br>
              <a:rPr lang="en-US" dirty="0"/>
            </a:br>
            <a:r>
              <a:rPr lang="en-US" sz="2800" dirty="0"/>
              <a:t>Neighborhood Candidates</a:t>
            </a:r>
            <a:endParaRPr lang="ru-RU" sz="2800" dirty="0"/>
          </a:p>
        </p:txBody>
      </p:sp>
      <p:sp>
        <p:nvSpPr>
          <p:cNvPr id="3" name="Объект 2">
            <a:extLst>
              <a:ext uri="{FF2B5EF4-FFF2-40B4-BE49-F238E27FC236}">
                <a16:creationId xmlns:a16="http://schemas.microsoft.com/office/drawing/2014/main" id="{D40180F8-32DD-4B98-8497-CE7DD85DB88C}"/>
              </a:ext>
            </a:extLst>
          </p:cNvPr>
          <p:cNvSpPr>
            <a:spLocks noGrp="1"/>
          </p:cNvSpPr>
          <p:nvPr>
            <p:ph idx="1"/>
          </p:nvPr>
        </p:nvSpPr>
        <p:spPr>
          <a:xfrm>
            <a:off x="677334" y="1671783"/>
            <a:ext cx="8596668" cy="4849090"/>
          </a:xfrm>
        </p:spPr>
        <p:txBody>
          <a:bodyPr/>
          <a:lstStyle/>
          <a:p>
            <a:pPr marL="0" indent="0">
              <a:buNone/>
            </a:pPr>
            <a:r>
              <a:rPr lang="en-US" sz="1700" dirty="0"/>
              <a:t>We visualize the data we have - the location of the center of the area under consideration (Town Hall Square) and the boundaries of potential locations within it.</a:t>
            </a:r>
          </a:p>
          <a:p>
            <a:endParaRPr lang="ru-RU" dirty="0"/>
          </a:p>
        </p:txBody>
      </p:sp>
      <p:pic>
        <p:nvPicPr>
          <p:cNvPr id="4" name="Рисунок 3">
            <a:extLst>
              <a:ext uri="{FF2B5EF4-FFF2-40B4-BE49-F238E27FC236}">
                <a16:creationId xmlns:a16="http://schemas.microsoft.com/office/drawing/2014/main" id="{E387D04C-C5CE-447B-9F4B-D1C73C4110D3}"/>
              </a:ext>
            </a:extLst>
          </p:cNvPr>
          <p:cNvPicPr>
            <a:picLocks noChangeAspect="1"/>
          </p:cNvPicPr>
          <p:nvPr/>
        </p:nvPicPr>
        <p:blipFill>
          <a:blip r:embed="rId2"/>
          <a:stretch>
            <a:fillRect/>
          </a:stretch>
        </p:blipFill>
        <p:spPr>
          <a:xfrm>
            <a:off x="1712827" y="2384040"/>
            <a:ext cx="6525681" cy="4157615"/>
          </a:xfrm>
          <a:prstGeom prst="rect">
            <a:avLst/>
          </a:prstGeom>
        </p:spPr>
      </p:pic>
    </p:spTree>
    <p:extLst>
      <p:ext uri="{BB962C8B-B14F-4D97-AF65-F5344CB8AC3E}">
        <p14:creationId xmlns:p14="http://schemas.microsoft.com/office/powerpoint/2010/main" val="8197120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82185F-EF53-4CB8-8177-F008361B95E8}"/>
              </a:ext>
            </a:extLst>
          </p:cNvPr>
          <p:cNvSpPr>
            <a:spLocks noGrp="1"/>
          </p:cNvSpPr>
          <p:nvPr>
            <p:ph type="title"/>
          </p:nvPr>
        </p:nvSpPr>
        <p:spPr/>
        <p:txBody>
          <a:bodyPr>
            <a:normAutofit fontScale="90000"/>
          </a:bodyPr>
          <a:lstStyle/>
          <a:p>
            <a:r>
              <a:rPr lang="en-US" sz="4000" dirty="0"/>
              <a:t>Data </a:t>
            </a:r>
            <a:br>
              <a:rPr lang="en-US" dirty="0"/>
            </a:br>
            <a:r>
              <a:rPr lang="en-US" sz="3100" dirty="0"/>
              <a:t>Foursquare</a:t>
            </a:r>
            <a:br>
              <a:rPr lang="ru-RU" b="1" dirty="0"/>
            </a:br>
            <a:br>
              <a:rPr lang="en-US" dirty="0"/>
            </a:br>
            <a:endParaRPr lang="ru-RU" dirty="0"/>
          </a:p>
        </p:txBody>
      </p:sp>
      <p:sp>
        <p:nvSpPr>
          <p:cNvPr id="3" name="Объект 2">
            <a:extLst>
              <a:ext uri="{FF2B5EF4-FFF2-40B4-BE49-F238E27FC236}">
                <a16:creationId xmlns:a16="http://schemas.microsoft.com/office/drawing/2014/main" id="{A1DB70BC-93F5-407B-AB4F-E06FDBBE7363}"/>
              </a:ext>
            </a:extLst>
          </p:cNvPr>
          <p:cNvSpPr>
            <a:spLocks noGrp="1"/>
          </p:cNvSpPr>
          <p:nvPr>
            <p:ph idx="1"/>
          </p:nvPr>
        </p:nvSpPr>
        <p:spPr>
          <a:xfrm>
            <a:off x="677334" y="1708728"/>
            <a:ext cx="8596668" cy="4102446"/>
          </a:xfrm>
        </p:spPr>
        <p:txBody>
          <a:bodyPr/>
          <a:lstStyle/>
          <a:p>
            <a:pPr marL="0" indent="0">
              <a:buNone/>
            </a:pPr>
            <a:r>
              <a:rPr lang="en-US" dirty="0"/>
              <a:t>We found in the area under consideration all the restaurants in general and Eastern European cuisine in particular (blue and red, respectively).</a:t>
            </a:r>
            <a:endParaRPr lang="ru-RU" b="1" dirty="0"/>
          </a:p>
          <a:p>
            <a:endParaRPr lang="ru-RU" dirty="0"/>
          </a:p>
        </p:txBody>
      </p:sp>
      <p:pic>
        <p:nvPicPr>
          <p:cNvPr id="4" name="Рисунок 3">
            <a:extLst>
              <a:ext uri="{FF2B5EF4-FFF2-40B4-BE49-F238E27FC236}">
                <a16:creationId xmlns:a16="http://schemas.microsoft.com/office/drawing/2014/main" id="{EF48FB79-E697-4AE9-981E-A432C4F51AFE}"/>
              </a:ext>
            </a:extLst>
          </p:cNvPr>
          <p:cNvPicPr/>
          <p:nvPr/>
        </p:nvPicPr>
        <p:blipFill rotWithShape="1">
          <a:blip r:embed="rId2"/>
          <a:srcRect l="26209" t="25257" r="12492" b="4747"/>
          <a:stretch/>
        </p:blipFill>
        <p:spPr bwMode="auto">
          <a:xfrm>
            <a:off x="1814637" y="2424961"/>
            <a:ext cx="6479617" cy="410244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5560861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4A8223C-BD23-4FB5-A6D3-18D403A4F766}"/>
              </a:ext>
            </a:extLst>
          </p:cNvPr>
          <p:cNvSpPr>
            <a:spLocks noGrp="1"/>
          </p:cNvSpPr>
          <p:nvPr>
            <p:ph type="title"/>
          </p:nvPr>
        </p:nvSpPr>
        <p:spPr/>
        <p:txBody>
          <a:bodyPr/>
          <a:lstStyle/>
          <a:p>
            <a:r>
              <a:rPr lang="en-US" dirty="0"/>
              <a:t>Methodology</a:t>
            </a:r>
            <a:endParaRPr lang="ru-RU" dirty="0"/>
          </a:p>
        </p:txBody>
      </p:sp>
      <p:sp>
        <p:nvSpPr>
          <p:cNvPr id="3" name="Объект 2">
            <a:extLst>
              <a:ext uri="{FF2B5EF4-FFF2-40B4-BE49-F238E27FC236}">
                <a16:creationId xmlns:a16="http://schemas.microsoft.com/office/drawing/2014/main" id="{AEF06D9E-3E68-415F-9FCB-B64896BCFE76}"/>
              </a:ext>
            </a:extLst>
          </p:cNvPr>
          <p:cNvSpPr>
            <a:spLocks noGrp="1"/>
          </p:cNvSpPr>
          <p:nvPr>
            <p:ph idx="1"/>
          </p:nvPr>
        </p:nvSpPr>
        <p:spPr>
          <a:xfrm>
            <a:off x="677334" y="1754909"/>
            <a:ext cx="8596668" cy="4286453"/>
          </a:xfrm>
        </p:spPr>
        <p:txBody>
          <a:bodyPr/>
          <a:lstStyle/>
          <a:p>
            <a:r>
              <a:rPr lang="en-US" dirty="0"/>
              <a:t>At the first stage, we collected the necessary data - the location of all restaurants within 1.5 km from Town Hall Square, as well as restaurants of Eastern European cuisine (in accordance with the Foursquare categorization).</a:t>
            </a:r>
          </a:p>
          <a:p>
            <a:r>
              <a:rPr lang="en-US" dirty="0"/>
              <a:t>The second stage of our analysis is the calculation and study of the "density" of restaurants in different locations of the considered area in order to identify several promising locations near Town Hall Square with a small number of restaurants in general and the absence of restaurants of Eastern European cuisine nearby. To do this, we will use heat maps.</a:t>
            </a:r>
          </a:p>
          <a:p>
            <a:r>
              <a:rPr lang="en-US" dirty="0"/>
              <a:t>Thus, the results of our project will become the starting point for a detailed study at the "street level" and, taking into account the analysis of additional factors beyond the scope of this study, determining the optimal location of the first foreign restaurant of the company "EEC.</a:t>
            </a:r>
            <a:endParaRPr lang="ru-RU" dirty="0"/>
          </a:p>
        </p:txBody>
      </p:sp>
    </p:spTree>
    <p:extLst>
      <p:ext uri="{BB962C8B-B14F-4D97-AF65-F5344CB8AC3E}">
        <p14:creationId xmlns:p14="http://schemas.microsoft.com/office/powerpoint/2010/main" val="827782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772EC8-9778-4962-BE14-0C50675F75E1}"/>
              </a:ext>
            </a:extLst>
          </p:cNvPr>
          <p:cNvSpPr>
            <a:spLocks noGrp="1"/>
          </p:cNvSpPr>
          <p:nvPr>
            <p:ph type="title"/>
          </p:nvPr>
        </p:nvSpPr>
        <p:spPr/>
        <p:txBody>
          <a:bodyPr/>
          <a:lstStyle/>
          <a:p>
            <a:r>
              <a:rPr lang="en-US" dirty="0"/>
              <a:t>Analysis</a:t>
            </a:r>
            <a:br>
              <a:rPr lang="en-US" dirty="0"/>
            </a:br>
            <a:r>
              <a:rPr lang="en-US" sz="2400" dirty="0"/>
              <a:t>Density of all restaurant</a:t>
            </a:r>
            <a:endParaRPr lang="ru-RU" sz="2400" dirty="0"/>
          </a:p>
        </p:txBody>
      </p:sp>
      <p:sp>
        <p:nvSpPr>
          <p:cNvPr id="3" name="Объект 2">
            <a:extLst>
              <a:ext uri="{FF2B5EF4-FFF2-40B4-BE49-F238E27FC236}">
                <a16:creationId xmlns:a16="http://schemas.microsoft.com/office/drawing/2014/main" id="{A60216CF-EE38-403F-87B6-56FF98BCEC6E}"/>
              </a:ext>
            </a:extLst>
          </p:cNvPr>
          <p:cNvSpPr>
            <a:spLocks noGrp="1"/>
          </p:cNvSpPr>
          <p:nvPr>
            <p:ph idx="1"/>
          </p:nvPr>
        </p:nvSpPr>
        <p:spPr>
          <a:xfrm>
            <a:off x="677334" y="1736436"/>
            <a:ext cx="8596668" cy="4304926"/>
          </a:xfrm>
        </p:spPr>
        <p:txBody>
          <a:bodyPr/>
          <a:lstStyle/>
          <a:p>
            <a:pPr marL="0" indent="0">
              <a:buNone/>
            </a:pPr>
            <a:r>
              <a:rPr lang="en-US" dirty="0"/>
              <a:t>We created a heat map showing the density of restaurant locations.</a:t>
            </a:r>
            <a:endParaRPr lang="ru-RU" dirty="0"/>
          </a:p>
        </p:txBody>
      </p:sp>
      <p:pic>
        <p:nvPicPr>
          <p:cNvPr id="4" name="Рисунок 3">
            <a:extLst>
              <a:ext uri="{FF2B5EF4-FFF2-40B4-BE49-F238E27FC236}">
                <a16:creationId xmlns:a16="http://schemas.microsoft.com/office/drawing/2014/main" id="{43FF017E-B2DA-4303-8BA5-E017CF158CB6}"/>
              </a:ext>
            </a:extLst>
          </p:cNvPr>
          <p:cNvPicPr>
            <a:picLocks noChangeAspect="1"/>
          </p:cNvPicPr>
          <p:nvPr/>
        </p:nvPicPr>
        <p:blipFill>
          <a:blip r:embed="rId2"/>
          <a:stretch>
            <a:fillRect/>
          </a:stretch>
        </p:blipFill>
        <p:spPr>
          <a:xfrm>
            <a:off x="1476626" y="2110008"/>
            <a:ext cx="6998084" cy="4429556"/>
          </a:xfrm>
          <a:prstGeom prst="rect">
            <a:avLst/>
          </a:prstGeom>
        </p:spPr>
      </p:pic>
    </p:spTree>
    <p:extLst>
      <p:ext uri="{BB962C8B-B14F-4D97-AF65-F5344CB8AC3E}">
        <p14:creationId xmlns:p14="http://schemas.microsoft.com/office/powerpoint/2010/main" val="1824524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772EC8-9778-4962-BE14-0C50675F75E1}"/>
              </a:ext>
            </a:extLst>
          </p:cNvPr>
          <p:cNvSpPr>
            <a:spLocks noGrp="1"/>
          </p:cNvSpPr>
          <p:nvPr>
            <p:ph type="title"/>
          </p:nvPr>
        </p:nvSpPr>
        <p:spPr/>
        <p:txBody>
          <a:bodyPr/>
          <a:lstStyle/>
          <a:p>
            <a:r>
              <a:rPr lang="en-US" dirty="0"/>
              <a:t>Analysis</a:t>
            </a:r>
            <a:br>
              <a:rPr lang="en-US" dirty="0"/>
            </a:br>
            <a:r>
              <a:rPr lang="en-US" sz="2400" dirty="0"/>
              <a:t>Density of Eastern European restaurants</a:t>
            </a:r>
            <a:endParaRPr lang="ru-RU" sz="2400" dirty="0"/>
          </a:p>
        </p:txBody>
      </p:sp>
      <p:sp>
        <p:nvSpPr>
          <p:cNvPr id="3" name="Объект 2">
            <a:extLst>
              <a:ext uri="{FF2B5EF4-FFF2-40B4-BE49-F238E27FC236}">
                <a16:creationId xmlns:a16="http://schemas.microsoft.com/office/drawing/2014/main" id="{A60216CF-EE38-403F-87B6-56FF98BCEC6E}"/>
              </a:ext>
            </a:extLst>
          </p:cNvPr>
          <p:cNvSpPr>
            <a:spLocks noGrp="1"/>
          </p:cNvSpPr>
          <p:nvPr>
            <p:ph idx="1"/>
          </p:nvPr>
        </p:nvSpPr>
        <p:spPr>
          <a:xfrm>
            <a:off x="677334" y="1736436"/>
            <a:ext cx="8596668" cy="4304926"/>
          </a:xfrm>
        </p:spPr>
        <p:txBody>
          <a:bodyPr/>
          <a:lstStyle/>
          <a:p>
            <a:pPr marL="0" indent="0">
              <a:buNone/>
            </a:pPr>
            <a:r>
              <a:rPr lang="en-US" dirty="0"/>
              <a:t>We created a heat map showing the density of Eastern European restaurants.</a:t>
            </a:r>
            <a:endParaRPr lang="ru-RU" dirty="0"/>
          </a:p>
        </p:txBody>
      </p:sp>
      <p:pic>
        <p:nvPicPr>
          <p:cNvPr id="5" name="Рисунок 4">
            <a:extLst>
              <a:ext uri="{FF2B5EF4-FFF2-40B4-BE49-F238E27FC236}">
                <a16:creationId xmlns:a16="http://schemas.microsoft.com/office/drawing/2014/main" id="{107B5498-CD62-4AF2-9D20-9897291F12CD}"/>
              </a:ext>
            </a:extLst>
          </p:cNvPr>
          <p:cNvPicPr>
            <a:picLocks noChangeAspect="1"/>
          </p:cNvPicPr>
          <p:nvPr/>
        </p:nvPicPr>
        <p:blipFill>
          <a:blip r:embed="rId2"/>
          <a:stretch>
            <a:fillRect/>
          </a:stretch>
        </p:blipFill>
        <p:spPr>
          <a:xfrm>
            <a:off x="1553298" y="2205419"/>
            <a:ext cx="6844739" cy="4353678"/>
          </a:xfrm>
          <a:prstGeom prst="rect">
            <a:avLst/>
          </a:prstGeom>
        </p:spPr>
      </p:pic>
    </p:spTree>
    <p:extLst>
      <p:ext uri="{BB962C8B-B14F-4D97-AF65-F5344CB8AC3E}">
        <p14:creationId xmlns:p14="http://schemas.microsoft.com/office/powerpoint/2010/main" val="3524956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9E6913F-6DCC-48C3-97C5-12C6FC3F43B8}"/>
              </a:ext>
            </a:extLst>
          </p:cNvPr>
          <p:cNvSpPr>
            <a:spLocks noGrp="1"/>
          </p:cNvSpPr>
          <p:nvPr>
            <p:ph type="title"/>
          </p:nvPr>
        </p:nvSpPr>
        <p:spPr/>
        <p:txBody>
          <a:bodyPr/>
          <a:lstStyle/>
          <a:p>
            <a:r>
              <a:rPr lang="en-US" dirty="0"/>
              <a:t>Results</a:t>
            </a:r>
            <a:endParaRPr lang="ru-RU" dirty="0"/>
          </a:p>
        </p:txBody>
      </p:sp>
      <p:sp>
        <p:nvSpPr>
          <p:cNvPr id="3" name="Объект 2">
            <a:extLst>
              <a:ext uri="{FF2B5EF4-FFF2-40B4-BE49-F238E27FC236}">
                <a16:creationId xmlns:a16="http://schemas.microsoft.com/office/drawing/2014/main" id="{69E37EAE-8EFB-42BE-85E8-4220C4F55B63}"/>
              </a:ext>
            </a:extLst>
          </p:cNvPr>
          <p:cNvSpPr>
            <a:spLocks noGrp="1"/>
          </p:cNvSpPr>
          <p:nvPr>
            <p:ph idx="1"/>
          </p:nvPr>
        </p:nvSpPr>
        <p:spPr/>
        <p:txBody>
          <a:bodyPr/>
          <a:lstStyle/>
          <a:p>
            <a:r>
              <a:rPr lang="en-US" dirty="0"/>
              <a:t>Our research shows that there are a relatively large number of restaurants of different types / categories in the historical part of Tallinn and in the surrounding area (~200 in our area of interest, with a radius of 1.5 km around Town Hall Square).</a:t>
            </a:r>
          </a:p>
          <a:p>
            <a:endParaRPr lang="en-US" dirty="0"/>
          </a:p>
          <a:p>
            <a:r>
              <a:rPr lang="en-US" dirty="0"/>
              <a:t>The largest concentration of restaurants was found in the center and to the east of Town Hall Square, while there are locations with a relatively low density of restaurants in the west and north.</a:t>
            </a:r>
          </a:p>
          <a:p>
            <a:endParaRPr lang="en-US" dirty="0"/>
          </a:p>
          <a:p>
            <a:r>
              <a:rPr lang="en-US" dirty="0"/>
              <a:t>The density of restaurants of Eastern European cuisine, as the analysis shows, is quite low in the entire area under consideration.</a:t>
            </a:r>
          </a:p>
        </p:txBody>
      </p:sp>
    </p:spTree>
    <p:extLst>
      <p:ext uri="{BB962C8B-B14F-4D97-AF65-F5344CB8AC3E}">
        <p14:creationId xmlns:p14="http://schemas.microsoft.com/office/powerpoint/2010/main" val="16712477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6BF1E97-5C49-478B-A53A-2C96408ADB46}"/>
              </a:ext>
            </a:extLst>
          </p:cNvPr>
          <p:cNvSpPr>
            <a:spLocks noGrp="1"/>
          </p:cNvSpPr>
          <p:nvPr>
            <p:ph type="title"/>
          </p:nvPr>
        </p:nvSpPr>
        <p:spPr/>
        <p:txBody>
          <a:bodyPr/>
          <a:lstStyle/>
          <a:p>
            <a:r>
              <a:rPr lang="en-US" dirty="0"/>
              <a:t>Discussion </a:t>
            </a:r>
            <a:endParaRPr lang="ru-RU" dirty="0"/>
          </a:p>
        </p:txBody>
      </p:sp>
      <p:sp>
        <p:nvSpPr>
          <p:cNvPr id="3" name="Объект 2">
            <a:extLst>
              <a:ext uri="{FF2B5EF4-FFF2-40B4-BE49-F238E27FC236}">
                <a16:creationId xmlns:a16="http://schemas.microsoft.com/office/drawing/2014/main" id="{57310614-55C5-4388-9741-C9138C121E1F}"/>
              </a:ext>
            </a:extLst>
          </p:cNvPr>
          <p:cNvSpPr>
            <a:spLocks noGrp="1"/>
          </p:cNvSpPr>
          <p:nvPr>
            <p:ph idx="1"/>
          </p:nvPr>
        </p:nvSpPr>
        <p:spPr/>
        <p:txBody>
          <a:bodyPr/>
          <a:lstStyle/>
          <a:p>
            <a:r>
              <a:rPr lang="en-US" dirty="0"/>
              <a:t>On the one hand, the locations to the west and north of Town Hall Square can be considered as a priority for further more detailed research, including in the "field" conditions.</a:t>
            </a:r>
          </a:p>
          <a:p>
            <a:endParaRPr lang="en-US" dirty="0"/>
          </a:p>
          <a:p>
            <a:r>
              <a:rPr lang="en-US" dirty="0"/>
              <a:t>However, this does not mean that these locations are the optimal places for our restaurant. Perhaps there are good reasons for the low density of restaurants in these locations, which can become stop factors for opening our restaurant there.</a:t>
            </a:r>
          </a:p>
          <a:p>
            <a:endParaRPr lang="en-US" dirty="0"/>
          </a:p>
          <a:p>
            <a:r>
              <a:rPr lang="en-US" dirty="0"/>
              <a:t>The recommended locations should be considered only as a starting point for further, more detailed analysis.</a:t>
            </a:r>
          </a:p>
        </p:txBody>
      </p:sp>
    </p:spTree>
    <p:extLst>
      <p:ext uri="{BB962C8B-B14F-4D97-AF65-F5344CB8AC3E}">
        <p14:creationId xmlns:p14="http://schemas.microsoft.com/office/powerpoint/2010/main" val="723710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E96D0FB-1BC3-4952-A113-FA08BDD7FD9E}"/>
              </a:ext>
            </a:extLst>
          </p:cNvPr>
          <p:cNvSpPr>
            <a:spLocks noGrp="1"/>
          </p:cNvSpPr>
          <p:nvPr>
            <p:ph type="title"/>
          </p:nvPr>
        </p:nvSpPr>
        <p:spPr/>
        <p:txBody>
          <a:bodyPr/>
          <a:lstStyle/>
          <a:p>
            <a:r>
              <a:rPr lang="en-US" dirty="0"/>
              <a:t>Conclusion</a:t>
            </a:r>
            <a:endParaRPr lang="ru-RU" dirty="0"/>
          </a:p>
        </p:txBody>
      </p:sp>
      <p:sp>
        <p:nvSpPr>
          <p:cNvPr id="3" name="Объект 2">
            <a:extLst>
              <a:ext uri="{FF2B5EF4-FFF2-40B4-BE49-F238E27FC236}">
                <a16:creationId xmlns:a16="http://schemas.microsoft.com/office/drawing/2014/main" id="{FC37BABF-E0F6-48C2-9A9B-9AB51204FDCB}"/>
              </a:ext>
            </a:extLst>
          </p:cNvPr>
          <p:cNvSpPr>
            <a:spLocks noGrp="1"/>
          </p:cNvSpPr>
          <p:nvPr>
            <p:ph idx="1"/>
          </p:nvPr>
        </p:nvSpPr>
        <p:spPr>
          <a:xfrm>
            <a:off x="677334" y="1579419"/>
            <a:ext cx="8596668" cy="4461944"/>
          </a:xfrm>
        </p:spPr>
        <p:txBody>
          <a:bodyPr/>
          <a:lstStyle/>
          <a:p>
            <a:r>
              <a:rPr lang="en-US" dirty="0"/>
              <a:t>The purpose of this project was to determine the most promising locations for placing an Eastern European cuisine restaurant in the historical part of Tallinn, taking into account the presence of restaurants in general and with Eastern European cuisine in particular in the area under consideration.</a:t>
            </a:r>
          </a:p>
          <a:p>
            <a:endParaRPr lang="en-US" dirty="0"/>
          </a:p>
          <a:p>
            <a:r>
              <a:rPr lang="en-US" dirty="0"/>
              <a:t>Having calculated the distribution of the density of restaurants according to Foursquare data, we have identified the locations (to the west and north of Town Hall Square) that will be used as starting points for a detailed study.</a:t>
            </a:r>
          </a:p>
          <a:p>
            <a:endParaRPr lang="en-US" dirty="0"/>
          </a:p>
          <a:p>
            <a:r>
              <a:rPr lang="en-US" dirty="0"/>
              <a:t>The final decision on the location of the restaurant will be made by the interested parties on the basis of additional information about the locations and the competitive environment obtained during their study directly on the spot.</a:t>
            </a:r>
          </a:p>
        </p:txBody>
      </p:sp>
    </p:spTree>
    <p:extLst>
      <p:ext uri="{BB962C8B-B14F-4D97-AF65-F5344CB8AC3E}">
        <p14:creationId xmlns:p14="http://schemas.microsoft.com/office/powerpoint/2010/main" val="567836337"/>
      </p:ext>
    </p:extLst>
  </p:cSld>
  <p:clrMapOvr>
    <a:masterClrMapping/>
  </p:clrMapOvr>
</p:sld>
</file>

<file path=ppt/theme/theme1.xml><?xml version="1.0" encoding="utf-8"?>
<a:theme xmlns:a="http://schemas.openxmlformats.org/drawingml/2006/main" name="Аспект">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47</TotalTime>
  <Words>925</Words>
  <Application>Microsoft Office PowerPoint</Application>
  <PresentationFormat>Широкоэкранный</PresentationFormat>
  <Paragraphs>54</Paragraphs>
  <Slides>12</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12</vt:i4>
      </vt:variant>
    </vt:vector>
  </HeadingPairs>
  <TitlesOfParts>
    <vt:vector size="16" baseType="lpstr">
      <vt:lpstr>Arial</vt:lpstr>
      <vt:lpstr>Trebuchet MS</vt:lpstr>
      <vt:lpstr>Wingdings 3</vt:lpstr>
      <vt:lpstr>Аспект</vt:lpstr>
      <vt:lpstr>Capstone Project  The Battle of the Neighborhoods</vt:lpstr>
      <vt:lpstr>Introduction</vt:lpstr>
      <vt:lpstr>Data Main factors</vt:lpstr>
      <vt:lpstr>Data  Sources </vt:lpstr>
      <vt:lpstr>Data Neighborhood Candidates</vt:lpstr>
      <vt:lpstr>Data  Foursquare  </vt:lpstr>
      <vt:lpstr>Methodology</vt:lpstr>
      <vt:lpstr>Analysis Density of all restaurant</vt:lpstr>
      <vt:lpstr>Analysis Density of Eastern European restaurants</vt:lpstr>
      <vt:lpstr>Results</vt:lpstr>
      <vt:lpstr>Discussion </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The Battle of the Neighborhoods</dc:title>
  <dc:creator>Asus</dc:creator>
  <cp:lastModifiedBy>Asus</cp:lastModifiedBy>
  <cp:revision>6</cp:revision>
  <dcterms:created xsi:type="dcterms:W3CDTF">2021-07-24T13:03:50Z</dcterms:created>
  <dcterms:modified xsi:type="dcterms:W3CDTF">2021-07-24T13:51:11Z</dcterms:modified>
</cp:coreProperties>
</file>